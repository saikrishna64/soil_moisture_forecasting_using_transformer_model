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74" r:id="rId9"/>
    <p:sldId id="275" r:id="rId10"/>
    <p:sldId id="261" r:id="rId11"/>
    <p:sldId id="276" r:id="rId12"/>
    <p:sldId id="277" r:id="rId13"/>
    <p:sldId id="262" r:id="rId14"/>
    <p:sldId id="281" r:id="rId15"/>
    <p:sldId id="278" r:id="rId16"/>
    <p:sldId id="279" r:id="rId17"/>
    <p:sldId id="282" r:id="rId18"/>
    <p:sldId id="263" r:id="rId19"/>
    <p:sldId id="264" r:id="rId20"/>
    <p:sldId id="266" r:id="rId21"/>
    <p:sldId id="267" r:id="rId22"/>
    <p:sldId id="269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5E54"/>
    <a:srgbClr val="DCE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093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E1398-2153-963D-AA49-06F9CB5F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D88A3-C43E-E860-994C-824084FC1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D9919-DD59-1A34-91E3-58F0E6532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5E0D2-3330-0B73-B814-2907E3826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76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6F07C-8B0B-083A-21AC-FF395F82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72146-9C41-377E-4EE0-AA36264D2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9DAE7-820A-C950-6DE2-1B8A9FD78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ADDBE-B790-E0B0-95DE-E0DEC8E26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34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DC542-4ABA-6515-A771-E93E4219F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B7A73-CCD3-25B7-499F-B1828C0A1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314D6-EFCA-7B36-C343-4C78CFFBC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4468E-69C9-30DF-617C-B1FF72CFB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22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B7BFC-ACC2-0D3B-6633-0C87E29D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73C88-01D3-415D-1032-9987B0BB8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178C7-F728-5929-E3FF-BFD064B00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61354-8441-6827-B3F5-7B0B27EC3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97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FADD-BAA1-1417-FD5C-B57634CC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4C8B7-FF41-C7FB-AB31-BAC656DD8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9F365-6404-36D9-9A5E-212D053CB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7CCAC-70CC-69C0-769C-37E31BA8C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34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FFB27-22EF-3B73-EE2D-81344FA70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869E3-055F-28A8-D9C4-59CEFF91A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948DC-C793-A416-DDBA-EB5CEA10F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7A1BB-0CAC-BDEB-5224-BBCC1CA16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95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7EE8B-3FA5-1364-3C70-314443B39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FD47A-F24A-A419-31B9-0FAFB6ECF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61905-D7C3-5533-6425-E9324B1C5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AAAEE-36CE-8A02-86F8-CF5C1F34B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17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90A15-3FF9-1946-0884-6EA01FF76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8E9B8-5CC6-3CB8-6B59-3A2DD1958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4AF3A-B63D-9638-5894-52A94AAFA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4F16F-6AF9-9755-5FAB-4AFD9CEEF6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14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67A2-8DE6-C81A-9C3E-E89A6312A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A6352-4ED9-9686-6CFC-14CAC806C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DF4BB-A0CB-C885-E9C3-637FF1CE5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CDEB0-861F-0A10-C009-5C599375E2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84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A757C-6C71-BD6E-4E1A-ECA5C9F5F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3222C-1578-7E41-802C-452CC3E0A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61F97-AF1B-11B5-7B94-3E34997C4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3E548-47EC-4AD7-6400-56AD41D607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40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ixtlaverse.nixtla.io/neuralforecast/models.vanillatransformer.html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researchgate.net/figure/Diagram-of-the-PatchTST-MKAN-model-structure_fig3_399170280" TargetMode="Externa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searchgate.net/figure/Model-architecture-of-iTransformer_fig1_382824268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822960" y="58945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Live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914577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Moisture Forecasting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1600377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Transformer Models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2458897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Vanilla Transformer, PatchTST, iTransformer, and an Unsupervised Cluster-Based Transformer for 10-day minute-level forecasting</a:t>
            </a:r>
            <a:endParaRPr lang="en-US" sz="1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3BEE3051-65E2-5BF7-1036-C927771052C2}"/>
              </a:ext>
            </a:extLst>
          </p:cNvPr>
          <p:cNvSpPr/>
          <p:nvPr/>
        </p:nvSpPr>
        <p:spPr>
          <a:xfrm>
            <a:off x="822960" y="5004503"/>
            <a:ext cx="3291840" cy="1116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chemeClr val="bg1"/>
                </a:solidFill>
              </a:rPr>
              <a:t>Supervisor:</a:t>
            </a:r>
            <a:endParaRPr lang="en-US" sz="3200" b="1" dirty="0">
              <a:solidFill>
                <a:srgbClr val="E8E2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E8E2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E8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Jayaram Valluru</a:t>
            </a:r>
            <a:endParaRPr lang="en-US" sz="2400" b="1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D69E409-7D70-6E18-C71D-FC0E3FD6CE18}"/>
              </a:ext>
            </a:extLst>
          </p:cNvPr>
          <p:cNvSpPr/>
          <p:nvPr/>
        </p:nvSpPr>
        <p:spPr>
          <a:xfrm>
            <a:off x="8260080" y="5100321"/>
            <a:ext cx="3197860" cy="1366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>
                <a:solidFill>
                  <a:schemeClr val="bg1"/>
                </a:solidFill>
              </a:rPr>
              <a:t>Presented By:</a:t>
            </a:r>
            <a:endParaRPr lang="en-US" sz="3200" b="1" dirty="0">
              <a:solidFill>
                <a:srgbClr val="E8E2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E8E2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E8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Kesana Sai Krishna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E8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2025dss1013</a:t>
            </a:r>
            <a:endParaRPr 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7335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34440" y="1728216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83794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600200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Dataset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441448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" y="251460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234440" y="25694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267919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441448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Strategy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282696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77240" y="335584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1234440" y="3410712"/>
            <a:ext cx="457200" cy="457200"/>
          </a:xfrm>
          <a:prstGeom prst="ellipse">
            <a:avLst/>
          </a:prstGeom>
          <a:solidFill>
            <a:srgbClr val="3E272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4168" y="352044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3282696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Vanilla Transformer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4123944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77240" y="41970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1234440" y="4251960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168" y="436168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74520" y="412394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PatchTST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40080" y="4965192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77240" y="503834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1234440" y="509320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4168" y="520293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874520" y="496519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iTransformer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355080" y="1600200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492240" y="167335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6949440" y="172821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9168" y="1837944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589520" y="1600200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— Cluster-Based Transformer (Unsupervised)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355080" y="2441448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6492240" y="251460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36" name="Shape 28"/>
          <p:cNvSpPr/>
          <p:nvPr/>
        </p:nvSpPr>
        <p:spPr>
          <a:xfrm>
            <a:off x="6949440" y="2569464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9168" y="2679192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589520" y="2441448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Framework</a:t>
            </a:r>
            <a:endParaRPr lang="en-US" sz="1400" dirty="0"/>
          </a:p>
        </p:txBody>
      </p:sp>
      <p:sp>
        <p:nvSpPr>
          <p:cNvPr id="39" name="Shape 30"/>
          <p:cNvSpPr/>
          <p:nvPr/>
        </p:nvSpPr>
        <p:spPr>
          <a:xfrm>
            <a:off x="6355080" y="3282696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6492240" y="335584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1" name="Shape 32"/>
          <p:cNvSpPr/>
          <p:nvPr/>
        </p:nvSpPr>
        <p:spPr>
          <a:xfrm>
            <a:off x="6949440" y="341071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9168" y="3520440"/>
            <a:ext cx="237744" cy="23774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589520" y="3282696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Model Comparison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6355080" y="4123944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35"/>
          <p:cNvSpPr/>
          <p:nvPr/>
        </p:nvSpPr>
        <p:spPr>
          <a:xfrm>
            <a:off x="6492240" y="41970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  <p:sp>
        <p:nvSpPr>
          <p:cNvPr id="46" name="Shape 36"/>
          <p:cNvSpPr/>
          <p:nvPr/>
        </p:nvSpPr>
        <p:spPr>
          <a:xfrm>
            <a:off x="6949440" y="42519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168" y="4361688"/>
            <a:ext cx="237744" cy="237744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589520" y="412394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Tradeoffs</a:t>
            </a:r>
            <a:endParaRPr lang="en-US" sz="1400" dirty="0"/>
          </a:p>
        </p:txBody>
      </p:sp>
      <p:sp>
        <p:nvSpPr>
          <p:cNvPr id="49" name="Shape 38"/>
          <p:cNvSpPr/>
          <p:nvPr/>
        </p:nvSpPr>
        <p:spPr>
          <a:xfrm>
            <a:off x="6355080" y="4965192"/>
            <a:ext cx="53492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39"/>
          <p:cNvSpPr/>
          <p:nvPr/>
        </p:nvSpPr>
        <p:spPr>
          <a:xfrm>
            <a:off x="6492240" y="503834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D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51" name="Shape 40"/>
          <p:cNvSpPr/>
          <p:nvPr/>
        </p:nvSpPr>
        <p:spPr>
          <a:xfrm>
            <a:off x="6949440" y="5093208"/>
            <a:ext cx="457200" cy="457200"/>
          </a:xfrm>
          <a:prstGeom prst="ellipse">
            <a:avLst/>
          </a:prstGeom>
          <a:solidFill>
            <a:srgbClr val="6B5E54"/>
          </a:solidFill>
          <a:ln/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168" y="5202936"/>
            <a:ext cx="237744" cy="237744"/>
          </a:xfrm>
          <a:prstGeom prst="rect">
            <a:avLst/>
          </a:prstGeom>
        </p:spPr>
      </p:pic>
      <p:sp>
        <p:nvSpPr>
          <p:cNvPr id="55" name="Text 37">
            <a:extLst>
              <a:ext uri="{FF2B5EF4-FFF2-40B4-BE49-F238E27FC236}">
                <a16:creationId xmlns:a16="http://schemas.microsoft.com/office/drawing/2014/main" id="{F2D270CE-76D1-18BA-6073-290697C0DD37}"/>
              </a:ext>
            </a:extLst>
          </p:cNvPr>
          <p:cNvSpPr/>
          <p:nvPr/>
        </p:nvSpPr>
        <p:spPr>
          <a:xfrm>
            <a:off x="7599680" y="496722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10-Day Forecast </a:t>
            </a:r>
            <a:r>
              <a:rPr lang="en-US" sz="1400" b="1" dirty="0" err="1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3E272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18452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soil moisture for the next 10 days (14,400 minutes) using only historical minute-level sensor readings — with no advance knowledge of future irrigation.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3721608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566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irrigation schedule is unknown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4197096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40416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 is long-range (10 days)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672584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51713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slow-changing &amp; low-variance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14400" y="5148072"/>
            <a:ext cx="109728" cy="109728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49926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generalize from 100K training minutes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5715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Strategy: Autoregressive rolling prediction — feed each prediction back as input for the next step.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63640" y="1371600"/>
            <a:ext cx="5257800" cy="4846320"/>
          </a:xfrm>
          <a:prstGeom prst="roundRect">
            <a:avLst>
              <a:gd name="adj" fmla="val 1509"/>
            </a:avLst>
          </a:prstGeom>
          <a:solidFill>
            <a:srgbClr val="F4F1ED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37960" y="169164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579" y="1845259"/>
            <a:ext cx="332842" cy="33284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1520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400800" y="2514600"/>
            <a:ext cx="49377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6537960" y="2514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54964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minutes (~69.4 days)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400800" y="3017520"/>
            <a:ext cx="4937760" cy="5029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25" name="Text 21"/>
          <p:cNvSpPr/>
          <p:nvPr/>
        </p:nvSpPr>
        <p:spPr>
          <a:xfrm>
            <a:off x="653796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54964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Minute, Irrigation, Soil Moisture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00800" y="3520440"/>
            <a:ext cx="49377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6537960" y="35204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range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8549640" y="3520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x 10⁻⁶ (flow rate)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400800" y="4023360"/>
            <a:ext cx="4937760" cy="5029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31" name="Text 27"/>
          <p:cNvSpPr/>
          <p:nvPr/>
        </p:nvSpPr>
        <p:spPr>
          <a:xfrm>
            <a:off x="6537960" y="40233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range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8549640" y="4023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0.413 – 0.435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400800" y="4526280"/>
            <a:ext cx="49377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0"/>
          <p:cNvSpPr/>
          <p:nvPr/>
        </p:nvSpPr>
        <p:spPr>
          <a:xfrm>
            <a:off x="6537960" y="4526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8549640" y="4526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400800" y="5029200"/>
            <a:ext cx="4937760" cy="50292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37" name="Text 33"/>
          <p:cNvSpPr/>
          <p:nvPr/>
        </p:nvSpPr>
        <p:spPr>
          <a:xfrm>
            <a:off x="653796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854964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(per feature)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6400800" y="5715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characteristic: slow-changing, smooth, low-variance continuous time series.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4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Vanilla Transformer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818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encoder-only Transformer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15720"/>
            <a:ext cx="594360" cy="594360"/>
          </a:xfrm>
          <a:prstGeom prst="ellipse">
            <a:avLst/>
          </a:prstGeom>
          <a:solidFill>
            <a:srgbClr val="3E272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45836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6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915160"/>
            <a:ext cx="6075680" cy="775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minute is treated as one token. Self-attention is computed across all 120 past time steps to predict the next value, using fixed sinusoidal positional encoding.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2651760"/>
            <a:ext cx="1143000" cy="537464"/>
          </a:xfrm>
          <a:prstGeom prst="roundRect">
            <a:avLst>
              <a:gd name="adj" fmla="val 7059"/>
            </a:avLst>
          </a:prstGeom>
          <a:solidFill>
            <a:srgbClr val="F4F1ED"/>
          </a:solidFill>
          <a:ln w="9525">
            <a:solidFill>
              <a:srgbClr val="5D40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5298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08" y="283718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21408" y="2651760"/>
            <a:ext cx="1143000" cy="537464"/>
          </a:xfrm>
          <a:prstGeom prst="roundRect">
            <a:avLst>
              <a:gd name="adj" fmla="val 7059"/>
            </a:avLst>
          </a:prstGeom>
          <a:solidFill>
            <a:srgbClr val="F4F1ED"/>
          </a:solidFill>
          <a:ln w="9525">
            <a:solidFill>
              <a:srgbClr val="5D403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029968" y="25298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2837180"/>
            <a:ext cx="201168" cy="2011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511296" y="2651760"/>
            <a:ext cx="1143000" cy="537464"/>
          </a:xfrm>
          <a:prstGeom prst="roundRect">
            <a:avLst>
              <a:gd name="adj" fmla="val 7059"/>
            </a:avLst>
          </a:prstGeom>
          <a:solidFill>
            <a:srgbClr val="F4F1ED"/>
          </a:solidFill>
          <a:ln w="9525">
            <a:solidFill>
              <a:srgbClr val="5D403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419856" y="2529840"/>
            <a:ext cx="1143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layers)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83718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901184" y="2651760"/>
            <a:ext cx="1143000" cy="537464"/>
          </a:xfrm>
          <a:prstGeom prst="roundRect">
            <a:avLst>
              <a:gd name="adj" fmla="val 7059"/>
            </a:avLst>
          </a:prstGeom>
          <a:solidFill>
            <a:srgbClr val="2E7D32"/>
          </a:solidFill>
          <a:ln w="9525">
            <a:solidFill>
              <a:srgbClr val="5D403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901184" y="2651760"/>
            <a:ext cx="1143000" cy="53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31520" y="3404616"/>
            <a:ext cx="5811520" cy="3105911"/>
          </a:xfrm>
          <a:prstGeom prst="roundRect">
            <a:avLst>
              <a:gd name="adj" fmla="val 1584"/>
            </a:avLst>
          </a:prstGeom>
          <a:solidFill>
            <a:srgbClr val="3E2723"/>
          </a:solidFill>
          <a:ln/>
        </p:spPr>
      </p:sp>
      <p:sp>
        <p:nvSpPr>
          <p:cNvPr id="21" name="Text 15"/>
          <p:cNvSpPr/>
          <p:nvPr/>
        </p:nvSpPr>
        <p:spPr>
          <a:xfrm>
            <a:off x="1026159" y="3410712"/>
            <a:ext cx="518885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Specs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026160" y="3822192"/>
            <a:ext cx="3217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815079" y="3822192"/>
            <a:ext cx="217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026160" y="4206240"/>
            <a:ext cx="3217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3815079" y="4206240"/>
            <a:ext cx="217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/ minute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026160" y="4590288"/>
            <a:ext cx="3217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3815079" y="4590288"/>
            <a:ext cx="217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sinusoidal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026160" y="4974336"/>
            <a:ext cx="3217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 (d_model)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3815079" y="4974336"/>
            <a:ext cx="217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1026160" y="5358384"/>
            <a:ext cx="3217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heads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3815079" y="5358384"/>
            <a:ext cx="217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1026160" y="5742432"/>
            <a:ext cx="3217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layers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3815079" y="5742432"/>
            <a:ext cx="217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1026160" y="6126480"/>
            <a:ext cx="32170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3815079" y="6126480"/>
            <a:ext cx="2179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102,721</a:t>
            </a:r>
            <a:endParaRPr lang="en-US" sz="1250" dirty="0"/>
          </a:p>
        </p:txBody>
      </p:sp>
      <p:pic>
        <p:nvPicPr>
          <p:cNvPr id="40" name="Picture 39" descr="Vanilla Transformer - Nixtla">
            <a:extLst>
              <a:ext uri="{FF2B5EF4-FFF2-40B4-BE49-F238E27FC236}">
                <a16:creationId xmlns:a16="http://schemas.microsoft.com/office/drawing/2014/main" id="{BEC6C42C-8ABA-E97B-1E2A-FCA3C81AE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407" y="638049"/>
            <a:ext cx="3933850" cy="548843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59E6B44-A32E-9270-5AA6-F56E9D01449D}"/>
              </a:ext>
            </a:extLst>
          </p:cNvPr>
          <p:cNvSpPr txBox="1"/>
          <p:nvPr/>
        </p:nvSpPr>
        <p:spPr>
          <a:xfrm>
            <a:off x="6858408" y="6126481"/>
            <a:ext cx="3933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linkClick r:id="rId6"/>
              </a:rPr>
              <a:t>https://nixtlaverse.nixtla.io/neuralforecast/models.vanillatransformer.html</a:t>
            </a:r>
            <a:endParaRPr lang="en-IN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F24F-FB55-B222-BB51-CDBE88418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B6D29345-E7E5-0FDA-6DFF-2B2ED63AFA6E}"/>
              </a:ext>
            </a:extLst>
          </p:cNvPr>
          <p:cNvSpPr/>
          <p:nvPr/>
        </p:nvSpPr>
        <p:spPr>
          <a:xfrm>
            <a:off x="238760" y="172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6D20A1B-A7A5-EF9A-D942-E45AC8C96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616131"/>
            <a:ext cx="7282180" cy="624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79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5DFFB-CC79-E9A0-68F5-A2B71407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7A434A3-3F55-F9E4-0A8E-27D8BC12A550}"/>
              </a:ext>
            </a:extLst>
          </p:cNvPr>
          <p:cNvSpPr/>
          <p:nvPr/>
        </p:nvSpPr>
        <p:spPr>
          <a:xfrm>
            <a:off x="238760" y="172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Forecast-10days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CB23C-2F69-F0F6-006A-E406909B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80" y="172720"/>
            <a:ext cx="7670800" cy="4383315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BEC0188C-FC14-D77E-DA7F-3E5DE0EABEBB}"/>
              </a:ext>
            </a:extLst>
          </p:cNvPr>
          <p:cNvSpPr/>
          <p:nvPr/>
        </p:nvSpPr>
        <p:spPr>
          <a:xfrm>
            <a:off x="238760" y="4592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Curve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69E746-6CDA-46F7-D424-E96BFFC60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938" y="4572150"/>
            <a:ext cx="5587622" cy="223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90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PatchTST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47800"/>
            <a:ext cx="594360" cy="59436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59044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9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098041"/>
            <a:ext cx="2411732" cy="2087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token per minute, the 336-minute window is split into overlapping 16-minute patches (stride 8) — producing 41 patch tokens. Each variable (Irrigation, Soil Moisture) is processed independently with learnable positional encoding.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5252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minutes → 41 patches of 16 min (stride 8)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5552440"/>
            <a:ext cx="4846320" cy="320040"/>
          </a:xfrm>
          <a:prstGeom prst="rect">
            <a:avLst/>
          </a:prstGeom>
          <a:solidFill>
            <a:srgbClr val="F4F1ED"/>
          </a:solidFill>
          <a:ln w="6350">
            <a:solidFill>
              <a:srgbClr val="5D40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598160"/>
            <a:ext cx="457200" cy="228600"/>
          </a:xfrm>
          <a:prstGeom prst="rect">
            <a:avLst/>
          </a:prstGeom>
          <a:solidFill>
            <a:srgbClr val="0277BD">
              <a:alpha val="8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207008" y="5598160"/>
            <a:ext cx="457200" cy="228600"/>
          </a:xfrm>
          <a:prstGeom prst="rect">
            <a:avLst/>
          </a:prstGeom>
          <a:solidFill>
            <a:srgbClr val="4FC3F7">
              <a:alpha val="8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598160"/>
            <a:ext cx="457200" cy="228600"/>
          </a:xfrm>
          <a:prstGeom prst="rect">
            <a:avLst/>
          </a:prstGeom>
          <a:solidFill>
            <a:srgbClr val="0277BD">
              <a:alpha val="8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340864" y="5598160"/>
            <a:ext cx="457200" cy="228600"/>
          </a:xfrm>
          <a:prstGeom prst="rect">
            <a:avLst/>
          </a:prstGeom>
          <a:solidFill>
            <a:srgbClr val="4FC3F7">
              <a:alpha val="8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907792" y="5598160"/>
            <a:ext cx="457200" cy="228600"/>
          </a:xfrm>
          <a:prstGeom prst="rect">
            <a:avLst/>
          </a:prstGeom>
          <a:solidFill>
            <a:srgbClr val="0277BD">
              <a:alpha val="8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474720" y="5598160"/>
            <a:ext cx="457200" cy="228600"/>
          </a:xfrm>
          <a:prstGeom prst="rect">
            <a:avLst/>
          </a:prstGeom>
          <a:solidFill>
            <a:srgbClr val="4FC3F7">
              <a:alpha val="8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041648" y="5598160"/>
            <a:ext cx="457200" cy="228600"/>
          </a:xfrm>
          <a:prstGeom prst="rect">
            <a:avLst/>
          </a:prstGeom>
          <a:solidFill>
            <a:srgbClr val="0277BD">
              <a:alpha val="8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08576" y="5598160"/>
            <a:ext cx="457200" cy="228600"/>
          </a:xfrm>
          <a:prstGeom prst="rect">
            <a:avLst/>
          </a:prstGeom>
          <a:solidFill>
            <a:srgbClr val="4FC3F7">
              <a:alpha val="8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175504" y="5598160"/>
            <a:ext cx="457200" cy="228600"/>
          </a:xfrm>
          <a:prstGeom prst="rect">
            <a:avLst/>
          </a:prstGeom>
          <a:solidFill>
            <a:srgbClr val="0277BD">
              <a:alpha val="8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5902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patches → 41 tokens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00800" y="1600200"/>
            <a:ext cx="5120640" cy="4617720"/>
          </a:xfrm>
          <a:prstGeom prst="roundRect">
            <a:avLst>
              <a:gd name="adj" fmla="val 1584"/>
            </a:avLst>
          </a:prstGeom>
          <a:solidFill>
            <a:srgbClr val="0277BD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Specs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675120" y="23774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9464040" y="2377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minutes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675120" y="27614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length / stride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9464040" y="27614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min / 8 min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6675120" y="31455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patches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9464040" y="31455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tokens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6675120" y="35295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9464040" y="35295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Channel-independent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675120" y="39136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9464040" y="39136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6675120" y="4297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9464040" y="4297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675120" y="46817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9464040" y="46817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1,076,868</a:t>
            </a:r>
            <a:endParaRPr lang="en-US" sz="1250" dirty="0"/>
          </a:p>
        </p:txBody>
      </p:sp>
      <p:sp>
        <p:nvSpPr>
          <p:cNvPr id="40" name="Shape 36"/>
          <p:cNvSpPr/>
          <p:nvPr/>
        </p:nvSpPr>
        <p:spPr>
          <a:xfrm>
            <a:off x="6675120" y="5111496"/>
            <a:ext cx="4572000" cy="9144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1" name="Text 37"/>
          <p:cNvSpPr/>
          <p:nvPr/>
        </p:nvSpPr>
        <p:spPr>
          <a:xfrm>
            <a:off x="6675120" y="524865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1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high-frequency signals with sharp local patterns — not ideal for slow agricultural data.</a:t>
            </a:r>
            <a:endParaRPr lang="en-US" sz="1200" dirty="0"/>
          </a:p>
        </p:txBody>
      </p:sp>
      <p:pic>
        <p:nvPicPr>
          <p:cNvPr id="42" name="Picture 41" descr="PatchTST architecture diagram. | Download Scientific Diagram">
            <a:extLst>
              <a:ext uri="{FF2B5EF4-FFF2-40B4-BE49-F238E27FC236}">
                <a16:creationId xmlns:a16="http://schemas.microsoft.com/office/drawing/2014/main" id="{28AAFA45-E313-C136-7ACA-EA42F4030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812" y="2155825"/>
            <a:ext cx="3233416" cy="2471166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D99FC63-E873-328F-3297-4A27D7CAE668}"/>
              </a:ext>
            </a:extLst>
          </p:cNvPr>
          <p:cNvSpPr txBox="1"/>
          <p:nvPr/>
        </p:nvSpPr>
        <p:spPr>
          <a:xfrm>
            <a:off x="2682240" y="4681728"/>
            <a:ext cx="3718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linkClick r:id="rId5"/>
              </a:rPr>
              <a:t>https://www.researchgate.net/figure/Diagram-of-the-PatchTST-MKAN-model-structure_fig3_399170280</a:t>
            </a:r>
            <a:endParaRPr lang="en-IN" sz="12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E6D6A318-EFDA-CEB1-BF9B-0E030E491DF7}"/>
              </a:ext>
            </a:extLst>
          </p:cNvPr>
          <p:cNvSpPr/>
          <p:nvPr/>
        </p:nvSpPr>
        <p:spPr>
          <a:xfrm>
            <a:off x="640080" y="9022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Time Series is Worth 64 Words" (Nie et al., 2023)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BEC3-0458-7B57-8D49-C0E13789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2FC5A074-D3F2-0930-FF7E-33B3ECC9E581}"/>
              </a:ext>
            </a:extLst>
          </p:cNvPr>
          <p:cNvSpPr/>
          <p:nvPr/>
        </p:nvSpPr>
        <p:spPr>
          <a:xfrm>
            <a:off x="238760" y="132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41F385-FDC0-8C5F-72BD-5B935F6A7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060" y="563880"/>
            <a:ext cx="7343139" cy="629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76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D9A61-1CB4-766F-0C44-7EEAF815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D7BEC1D-716A-C8D7-F634-07D9C6B4D702}"/>
              </a:ext>
            </a:extLst>
          </p:cNvPr>
          <p:cNvSpPr/>
          <p:nvPr/>
        </p:nvSpPr>
        <p:spPr>
          <a:xfrm>
            <a:off x="238760" y="172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Forecast-10days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59BB72-6458-6FCD-0CBE-8D2DADFADEE6}"/>
              </a:ext>
            </a:extLst>
          </p:cNvPr>
          <p:cNvSpPr/>
          <p:nvPr/>
        </p:nvSpPr>
        <p:spPr>
          <a:xfrm>
            <a:off x="238760" y="4592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Curve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6935B-9653-65A2-0C88-0B38599F3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25" y="152400"/>
            <a:ext cx="7801610" cy="44580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F79B2D-A1F4-29BA-F210-0C612C5A29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970"/>
          <a:stretch>
            <a:fillRect/>
          </a:stretch>
        </p:blipFill>
        <p:spPr>
          <a:xfrm>
            <a:off x="2621658" y="4641239"/>
            <a:ext cx="5577462" cy="214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67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8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— iTransformer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5140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Transformers Are Effective for Time Series Forecasting (Liu et al., 2024)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94360" cy="5943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3770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79" y="1755240"/>
            <a:ext cx="6132647" cy="920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attention axis is inverted: instead of attending across time steps, the model attends across variables. Each variable's full 336-minute series becomes a single token — directly modelling how Irrigation relates to Soil Moisture.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631440"/>
            <a:ext cx="2468880" cy="716280"/>
          </a:xfrm>
          <a:prstGeom prst="roundRect">
            <a:avLst>
              <a:gd name="adj" fmla="val 4667"/>
            </a:avLst>
          </a:prstGeom>
          <a:solidFill>
            <a:srgbClr val="F4F1ED"/>
          </a:solidFill>
          <a:ln/>
        </p:spPr>
      </p:sp>
      <p:sp>
        <p:nvSpPr>
          <p:cNvPr id="9" name="Text 6"/>
          <p:cNvSpPr/>
          <p:nvPr/>
        </p:nvSpPr>
        <p:spPr>
          <a:xfrm>
            <a:off x="670560" y="2663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/ PatchTST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0400" y="287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across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STEPS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91592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03320" y="2631440"/>
            <a:ext cx="2148840" cy="716280"/>
          </a:xfrm>
          <a:prstGeom prst="roundRect">
            <a:avLst>
              <a:gd name="adj" fmla="val 4667"/>
            </a:avLst>
          </a:prstGeom>
          <a:solidFill>
            <a:srgbClr val="2E7D32"/>
          </a:solidFill>
          <a:ln/>
        </p:spPr>
      </p:sp>
      <p:sp>
        <p:nvSpPr>
          <p:cNvPr id="13" name="Text 9"/>
          <p:cNvSpPr/>
          <p:nvPr/>
        </p:nvSpPr>
        <p:spPr>
          <a:xfrm>
            <a:off x="3733800" y="26639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iTransformer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723640" y="2870200"/>
            <a:ext cx="19659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across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817360" y="1600200"/>
            <a:ext cx="4704080" cy="4617720"/>
          </a:xfrm>
          <a:prstGeom prst="roundRect">
            <a:avLst>
              <a:gd name="adj" fmla="val 1584"/>
            </a:avLst>
          </a:prstGeom>
          <a:solidFill>
            <a:srgbClr val="2E7D32"/>
          </a:solidFill>
          <a:ln/>
        </p:spPr>
      </p:sp>
      <p:sp>
        <p:nvSpPr>
          <p:cNvPr id="20" name="Text 15"/>
          <p:cNvSpPr/>
          <p:nvPr/>
        </p:nvSpPr>
        <p:spPr>
          <a:xfrm>
            <a:off x="7047048" y="1783080"/>
            <a:ext cx="42000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Specs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920592" y="2377440"/>
            <a:ext cx="277204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window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9788252" y="2377440"/>
            <a:ext cx="1596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minutes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920592" y="2761488"/>
            <a:ext cx="277204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9788252" y="2761488"/>
            <a:ext cx="1596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1/variable (2 total)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920592" y="3145536"/>
            <a:ext cx="277204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over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9788252" y="3145536"/>
            <a:ext cx="1596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not time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920592" y="3529584"/>
            <a:ext cx="277204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dim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9788252" y="3529584"/>
            <a:ext cx="1596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920592" y="3913632"/>
            <a:ext cx="277204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heads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9788252" y="3913632"/>
            <a:ext cx="1596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920592" y="4297680"/>
            <a:ext cx="277204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layers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9788252" y="4297680"/>
            <a:ext cx="1596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6920592" y="4681728"/>
            <a:ext cx="277204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9788252" y="4681728"/>
            <a:ext cx="159602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441,218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7047048" y="5111496"/>
            <a:ext cx="4200071" cy="9144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6" name="Text 31"/>
          <p:cNvSpPr/>
          <p:nvPr/>
        </p:nvSpPr>
        <p:spPr>
          <a:xfrm>
            <a:off x="7047048" y="5248656"/>
            <a:ext cx="4200071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datasets with many interacting variables — advantage limited here with just 2.</a:t>
            </a:r>
          </a:p>
          <a:p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with only 2 variables, the cross-variable attention has minimal relationships to exploit.</a:t>
            </a:r>
            <a:endParaRPr lang="en-US" sz="1200" i="1" dirty="0">
              <a:solidFill>
                <a:schemeClr val="bg1"/>
              </a:solidFill>
            </a:endParaRPr>
          </a:p>
        </p:txBody>
      </p:sp>
      <p:pic>
        <p:nvPicPr>
          <p:cNvPr id="37" name="Picture 36" descr="Model architecture of iTransformer">
            <a:extLst>
              <a:ext uri="{FF2B5EF4-FFF2-40B4-BE49-F238E27FC236}">
                <a16:creationId xmlns:a16="http://schemas.microsoft.com/office/drawing/2014/main" id="{82EFA88E-E2FA-7B5C-3D92-A6F729BB4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" y="3569209"/>
            <a:ext cx="6081667" cy="276894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ABDD7F1-264D-F16A-D034-A2A3CB59556F}"/>
              </a:ext>
            </a:extLst>
          </p:cNvPr>
          <p:cNvSpPr txBox="1"/>
          <p:nvPr/>
        </p:nvSpPr>
        <p:spPr>
          <a:xfrm>
            <a:off x="599440" y="6368636"/>
            <a:ext cx="6250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hlinkClick r:id="rId6"/>
              </a:rPr>
              <a:t>https://www.researchgate.net/figure/Model-architecture-of-iTransformer_fig1_382824268</a:t>
            </a:r>
            <a:r>
              <a:rPr lang="en-IN" sz="1200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F975-CA54-2A97-D1AC-C084F1B4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48F9EEFA-5E0A-BD49-A099-5D7E0679A32C}"/>
              </a:ext>
            </a:extLst>
          </p:cNvPr>
          <p:cNvSpPr/>
          <p:nvPr/>
        </p:nvSpPr>
        <p:spPr>
          <a:xfrm>
            <a:off x="238760" y="132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81A92-ABB5-06B0-84C5-2DE13F88F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1" y="518160"/>
            <a:ext cx="7313506" cy="626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41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5C7F-E83E-03B4-0EB5-76BDEA53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C04B021A-BDA3-072B-D1D3-AFD803EBF044}"/>
              </a:ext>
            </a:extLst>
          </p:cNvPr>
          <p:cNvSpPr/>
          <p:nvPr/>
        </p:nvSpPr>
        <p:spPr>
          <a:xfrm>
            <a:off x="238760" y="172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Forecast-10days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434C65-66C2-68D8-6ABA-E9AF781E5EAD}"/>
              </a:ext>
            </a:extLst>
          </p:cNvPr>
          <p:cNvSpPr/>
          <p:nvPr/>
        </p:nvSpPr>
        <p:spPr>
          <a:xfrm>
            <a:off x="238760" y="4592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Curve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0E6358-2510-30AB-0307-B05AD1EC8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868" y="142240"/>
            <a:ext cx="7519292" cy="4296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46FF05-B773-A313-EAB9-B36ADE6EC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548" y="4520842"/>
            <a:ext cx="5741292" cy="229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96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4 — Cluster-Based Transformer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+ specialist transformers per behavioural group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1ED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618488"/>
            <a:ext cx="502920" cy="5029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301" y="173918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167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1979676"/>
            <a:ext cx="164592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88920" y="15087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1ED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520440" y="161848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141" y="1739189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88920" y="2167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1979676"/>
            <a:ext cx="164592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937760" y="15087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1ED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5669280" y="1618488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981" y="1739189"/>
            <a:ext cx="261518" cy="261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37760" y="2167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1979676"/>
            <a:ext cx="164592" cy="20116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086600" y="15087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1ED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7818120" y="1618488"/>
            <a:ext cx="502920" cy="502920"/>
          </a:xfrm>
          <a:prstGeom prst="ellipse">
            <a:avLst/>
          </a:prstGeom>
          <a:solidFill>
            <a:srgbClr val="3E2723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8821" y="1739189"/>
            <a:ext cx="261518" cy="26151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086600" y="2167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4" y="1979676"/>
            <a:ext cx="164592" cy="2011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9235440" y="150876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4F1ED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9966960" y="1618488"/>
            <a:ext cx="502920" cy="5029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7661" y="1739189"/>
            <a:ext cx="261518" cy="26151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235440" y="216712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Cluster-Routed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008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clustering works:</a:t>
            </a:r>
            <a:endParaRPr lang="en-US" sz="1500" dirty="0"/>
          </a:p>
        </p:txBody>
      </p:sp>
      <p:sp>
        <p:nvSpPr>
          <p:cNvPr id="29" name="Text 18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/>
              <a:t>Each 180-minute window is represented using 10 statistical features (mean, std, min, max, range, slope, mean difference, energy, last value and irrigation mean). K-Means groups similar behavioural patterns without labels. Four clusters were selected for specialist Transformer training.</a:t>
            </a:r>
          </a:p>
        </p:txBody>
      </p:sp>
      <p:sp>
        <p:nvSpPr>
          <p:cNvPr id="30" name="Shape 19"/>
          <p:cNvSpPr/>
          <p:nvPr/>
        </p:nvSpPr>
        <p:spPr>
          <a:xfrm>
            <a:off x="640080" y="4526280"/>
            <a:ext cx="5120640" cy="1170432"/>
          </a:xfrm>
          <a:prstGeom prst="roundRect">
            <a:avLst>
              <a:gd name="adj" fmla="val 4324"/>
            </a:avLst>
          </a:prstGeom>
          <a:solidFill>
            <a:srgbClr val="3E2723"/>
          </a:solidFill>
          <a:ln/>
        </p:spPr>
      </p:sp>
      <p:sp>
        <p:nvSpPr>
          <p:cNvPr id="31" name="Text 20"/>
          <p:cNvSpPr/>
          <p:nvPr/>
        </p:nvSpPr>
        <p:spPr>
          <a:xfrm>
            <a:off x="868680" y="4663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prediction time: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868680" y="5029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window → extract features → classify into cluster → route to that cluster's specialist transformer → prediction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6263640" y="2880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Discovered Clusters</a:t>
            </a:r>
            <a:endParaRPr lang="en-US" sz="1500" dirty="0"/>
          </a:p>
        </p:txBody>
      </p:sp>
      <p:sp>
        <p:nvSpPr>
          <p:cNvPr id="35" name="Shape 24"/>
          <p:cNvSpPr/>
          <p:nvPr/>
        </p:nvSpPr>
        <p:spPr>
          <a:xfrm>
            <a:off x="6263640" y="333756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6400800" y="3456432"/>
            <a:ext cx="411480" cy="4114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26"/>
          <p:cNvSpPr/>
          <p:nvPr/>
        </p:nvSpPr>
        <p:spPr>
          <a:xfrm>
            <a:off x="6400800" y="3456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6949440" y="3392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350" dirty="0"/>
          </a:p>
        </p:txBody>
      </p:sp>
      <p:sp>
        <p:nvSpPr>
          <p:cNvPr id="39" name="Text 28"/>
          <p:cNvSpPr/>
          <p:nvPr/>
        </p:nvSpPr>
        <p:spPr>
          <a:xfrm>
            <a:off x="6949440" y="36850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Transitioning (moderate variation)</a:t>
            </a:r>
          </a:p>
        </p:txBody>
      </p:sp>
      <p:sp>
        <p:nvSpPr>
          <p:cNvPr id="40" name="Shape 29"/>
          <p:cNvSpPr/>
          <p:nvPr/>
        </p:nvSpPr>
        <p:spPr>
          <a:xfrm>
            <a:off x="6263640" y="411480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6400800" y="4233672"/>
            <a:ext cx="411480" cy="411480"/>
          </a:xfrm>
          <a:prstGeom prst="ellipse">
            <a:avLst/>
          </a:prstGeom>
          <a:solidFill>
            <a:srgbClr val="0277BD"/>
          </a:solidFill>
          <a:ln/>
        </p:spPr>
      </p:sp>
      <p:sp>
        <p:nvSpPr>
          <p:cNvPr id="42" name="Text 31"/>
          <p:cNvSpPr/>
          <p:nvPr/>
        </p:nvSpPr>
        <p:spPr>
          <a:xfrm>
            <a:off x="640080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6949440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350" dirty="0"/>
          </a:p>
        </p:txBody>
      </p:sp>
      <p:sp>
        <p:nvSpPr>
          <p:cNvPr id="44" name="Text 33"/>
          <p:cNvSpPr/>
          <p:nvPr/>
        </p:nvSpPr>
        <p:spPr>
          <a:xfrm>
            <a:off x="6949440" y="44622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Transitioning (high variability)</a:t>
            </a:r>
          </a:p>
        </p:txBody>
      </p:sp>
      <p:sp>
        <p:nvSpPr>
          <p:cNvPr id="45" name="Shape 34"/>
          <p:cNvSpPr/>
          <p:nvPr/>
        </p:nvSpPr>
        <p:spPr>
          <a:xfrm>
            <a:off x="6263640" y="489204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6400800" y="5010912"/>
            <a:ext cx="411480" cy="41148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7" name="Text 36"/>
          <p:cNvSpPr/>
          <p:nvPr/>
        </p:nvSpPr>
        <p:spPr>
          <a:xfrm>
            <a:off x="6400800" y="5010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6949440" y="49469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350" dirty="0"/>
          </a:p>
        </p:txBody>
      </p:sp>
      <p:sp>
        <p:nvSpPr>
          <p:cNvPr id="49" name="Text 38"/>
          <p:cNvSpPr/>
          <p:nvPr/>
        </p:nvSpPr>
        <p:spPr>
          <a:xfrm>
            <a:off x="6949440" y="523951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Rising trend</a:t>
            </a:r>
          </a:p>
        </p:txBody>
      </p:sp>
      <p:sp>
        <p:nvSpPr>
          <p:cNvPr id="50" name="Shape 39"/>
          <p:cNvSpPr/>
          <p:nvPr/>
        </p:nvSpPr>
        <p:spPr>
          <a:xfrm>
            <a:off x="6263640" y="5669280"/>
            <a:ext cx="5303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6400800" y="5788152"/>
            <a:ext cx="411480" cy="41148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2" name="Text 41"/>
          <p:cNvSpPr/>
          <p:nvPr/>
        </p:nvSpPr>
        <p:spPr>
          <a:xfrm>
            <a:off x="6400800" y="5788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6949440" y="57241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</a:t>
            </a:r>
            <a:endParaRPr lang="en-US" sz="1350" dirty="0"/>
          </a:p>
        </p:txBody>
      </p:sp>
      <p:sp>
        <p:nvSpPr>
          <p:cNvPr id="54" name="Text 43"/>
          <p:cNvSpPr/>
          <p:nvPr/>
        </p:nvSpPr>
        <p:spPr>
          <a:xfrm>
            <a:off x="6949440" y="60167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dirty="0"/>
              <a:t>Transitioning (stable transition)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1DDB8C-CEDA-0E9F-F16D-7B5715A1CEA4}"/>
              </a:ext>
            </a:extLst>
          </p:cNvPr>
          <p:cNvSpPr txBox="1"/>
          <p:nvPr/>
        </p:nvSpPr>
        <p:spPr>
          <a:xfrm>
            <a:off x="647700" y="5784580"/>
            <a:ext cx="53644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Specialized Transformer experts trained on clustered behavioural patterns improved overall forecasting accuracy compared with a single global Transformer.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B2339-8B1B-17A7-0741-7F52D7E7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3">
            <a:extLst>
              <a:ext uri="{FF2B5EF4-FFF2-40B4-BE49-F238E27FC236}">
                <a16:creationId xmlns:a16="http://schemas.microsoft.com/office/drawing/2014/main" id="{C0EB30DB-C970-296A-422C-F6E22451BC7A}"/>
              </a:ext>
            </a:extLst>
          </p:cNvPr>
          <p:cNvSpPr/>
          <p:nvPr/>
        </p:nvSpPr>
        <p:spPr>
          <a:xfrm>
            <a:off x="182880" y="60961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Selection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DBF221-A7A5-0394-5C85-CEDEA1547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440" y="162722"/>
            <a:ext cx="9060656" cy="3020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C18947-8CC2-8F51-1F87-3F3CD6080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759" y="3296931"/>
            <a:ext cx="9060655" cy="323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38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A569C-5A15-94A9-EE94-21740BB6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96A969D-7B0A-ED7F-FBCB-EAE7F38F79BF}"/>
              </a:ext>
            </a:extLst>
          </p:cNvPr>
          <p:cNvSpPr/>
          <p:nvPr/>
        </p:nvSpPr>
        <p:spPr>
          <a:xfrm>
            <a:off x="238760" y="132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9F4FC-A38F-FC41-D6C0-46CE51891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980" y="0"/>
            <a:ext cx="8000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10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AC2D-4298-0C14-885E-6B8DD73E2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07F457B7-2720-09DC-A033-83F4A267CD06}"/>
              </a:ext>
            </a:extLst>
          </p:cNvPr>
          <p:cNvSpPr/>
          <p:nvPr/>
        </p:nvSpPr>
        <p:spPr>
          <a:xfrm>
            <a:off x="238760" y="172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Forecast-10days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FD85AC-FD0F-9BE7-9C19-DA85692D9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380" y="0"/>
            <a:ext cx="8000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47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241B-5460-7C78-D4F6-DEA7FFFBD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1B6619EF-D769-D43F-9F84-53761D34906F}"/>
              </a:ext>
            </a:extLst>
          </p:cNvPr>
          <p:cNvSpPr/>
          <p:nvPr/>
        </p:nvSpPr>
        <p:spPr>
          <a:xfrm>
            <a:off x="182880" y="91441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Curve</a:t>
            </a: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001D0A-0ECE-2515-65A0-7876F9DFD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536303"/>
            <a:ext cx="10582910" cy="604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1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complementary metrics for comprehensive model assessment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2480" y="16002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5360" y="1764792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088" y="18745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9720" y="17647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75360" y="23500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Point-by-point error magnitude; penalizes large errors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34632" y="16002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017512" y="1764792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240" y="18745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1872" y="17647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017512" y="23500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in original soil moisture units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6864" y="319532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99744" y="3359912"/>
            <a:ext cx="457200" cy="45720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" y="346964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94104" y="335991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99744" y="394512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error; scale-independent comparison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837680" y="32004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20560" y="33649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0288" y="347472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4920" y="33649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R²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020560" y="39502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variance explained by the model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99592" y="48260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82472" y="499059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510032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76832" y="49905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82472" y="55758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vs naive baseline — below 1.0 means genuine learning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841744" y="4826000"/>
            <a:ext cx="3703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024624" y="499059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352" y="510032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618984" y="499059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R²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024624" y="5575808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R² per day — reveals long-range degradation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Full Model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 across all four models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908857"/>
              </p:ext>
            </p:extLst>
          </p:nvPr>
        </p:nvGraphicFramePr>
        <p:xfrm>
          <a:off x="640080" y="1417320"/>
          <a:ext cx="10881360" cy="38039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PatchTST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Cluster-Based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7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0.002536</a:t>
                      </a:r>
                      <a:endParaRPr lang="en-US" sz="12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0.002572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400" b="1" dirty="0"/>
                        <a:t>0.002524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0.000899</a:t>
                      </a:r>
                      <a:endParaRPr lang="en-US" sz="12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0.001009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0.001104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400" b="1" dirty="0"/>
                        <a:t>0.000821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0.2058</a:t>
                      </a:r>
                      <a:endParaRPr lang="en-US" sz="12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400" b="1" dirty="0"/>
                        <a:t>0.1881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0.8914</a:t>
                      </a:r>
                      <a:endParaRPr lang="en-US" sz="12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400" b="1" dirty="0"/>
                        <a:t>0.8924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1.034</a:t>
                      </a:r>
                      <a:endParaRPr lang="en-US" sz="12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400" b="1" dirty="0"/>
                        <a:t>0.5770</a:t>
                      </a:r>
                      <a:endParaRPr lang="en-US" sz="125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R² (mean)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0.8907</a:t>
                      </a:r>
                      <a:endParaRPr lang="en-US" sz="1250" b="1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0.8878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400" dirty="0"/>
                        <a:t>0.7639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Naive Baseline?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b="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A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DCEFD4"/>
          </a:solidFill>
          <a:ln/>
        </p:spPr>
      </p:sp>
      <p:sp>
        <p:nvSpPr>
          <p:cNvPr id="6" name="Shape 3"/>
          <p:cNvSpPr/>
          <p:nvPr/>
        </p:nvSpPr>
        <p:spPr>
          <a:xfrm>
            <a:off x="822960" y="5760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588142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57607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Cluster-Based Transformer</a:t>
            </a:r>
            <a:r>
              <a:rPr lang="en-IN" sz="1400" dirty="0"/>
              <a:t> achieved the best overall performance across RMSE, MAE, MAPE, Standard R² and MASE, while Vanilla Transformer maintained the highest Dynamic R², indicating more stable performance over time.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10-Day Forecast Behaviour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model's 14,400-minute forecast actually behaves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9656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1951330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099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Transformer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1031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/ converged — classic autoregressive mean drift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0" y="17099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Range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0" y="19842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0.4333 – 0.4353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78240" y="17099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778240" y="1984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715768"/>
            <a:ext cx="108813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8680" y="2935224"/>
            <a:ext cx="548640" cy="54864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4" y="3066898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8254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645920" y="321868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Drifts downward — most variation but unrealistic trend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00800" y="282549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Range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400800" y="309981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0.3599 – 0.4364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778240" y="28254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778240" y="3099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0.0765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40080" y="3831336"/>
            <a:ext cx="108813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68680" y="4050792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4" y="4182466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45920" y="394106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iTransformer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645920" y="43342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flat — similar drift to Vanilla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00800" y="394106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Range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400800" y="42153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0.4316 – 0.4350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778240" y="39410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8778240" y="42153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40080" y="4946904"/>
            <a:ext cx="1088136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rgbClr val="6B5E54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4" y="5298034"/>
            <a:ext cx="285293" cy="28529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645920" y="5056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Cluster-Based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1645920" y="544982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flat, but driven by genuine pattern learning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6400800" y="5056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Range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6400800" y="533095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/>
              <a:t>0.4333 – 0.4354</a:t>
            </a:r>
            <a:endParaRPr lang="en-US" sz="1400" b="1" dirty="0"/>
          </a:p>
        </p:txBody>
      </p:sp>
      <p:sp>
        <p:nvSpPr>
          <p:cNvPr id="38" name="Text 32"/>
          <p:cNvSpPr/>
          <p:nvPr/>
        </p:nvSpPr>
        <p:spPr>
          <a:xfrm>
            <a:off x="8778240" y="50566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8778240" y="53309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rgbClr val="6B5E54"/>
                </a:solidFill>
              </a:rPr>
              <a:t>0.0021</a:t>
            </a:r>
            <a:endParaRPr lang="en-US" sz="1400" b="1" dirty="0">
              <a:solidFill>
                <a:srgbClr val="6B5E54"/>
              </a:solidFill>
            </a:endParaRPr>
          </a:p>
        </p:txBody>
      </p:sp>
      <p:sp>
        <p:nvSpPr>
          <p:cNvPr id="40" name="Text 34"/>
          <p:cNvSpPr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forecasts use autoregressive rolling prediction; future irrigation is approximated using the historical mean (no advance data available).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i="1" dirty="0">
                <a:solidFill>
                  <a:srgbClr val="00B0F0"/>
                </a:solidFill>
              </a:rPr>
              <a:t>What the experiments revealed about forecasting soil moisture</a:t>
            </a:r>
            <a:endParaRPr lang="en-IN" sz="1400" dirty="0">
              <a:solidFill>
                <a:srgbClr val="00B0F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5D4037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194950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830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Overall Best Performance</a:t>
            </a:r>
          </a:p>
        </p:txBody>
      </p:sp>
      <p:sp>
        <p:nvSpPr>
          <p:cNvPr id="9" name="Text 6"/>
          <p:cNvSpPr/>
          <p:nvPr/>
        </p:nvSpPr>
        <p:spPr>
          <a:xfrm>
            <a:off x="868680" y="23774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Cluster-Based Transformer achieved the best overall forecasting accuracy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It obtained the lowest </a:t>
            </a:r>
            <a:r>
              <a:rPr lang="en-IN" sz="1200" b="1" dirty="0">
                <a:solidFill>
                  <a:schemeClr val="bg1"/>
                </a:solidFill>
              </a:rPr>
              <a:t>RMSE (0.002524), MAE (0.000821), MAPE (0.1881%)</a:t>
            </a:r>
            <a:r>
              <a:rPr lang="en-IN" sz="1200" dirty="0">
                <a:solidFill>
                  <a:schemeClr val="bg1"/>
                </a:solidFill>
              </a:rPr>
              <a:t>, highest </a:t>
            </a:r>
            <a:r>
              <a:rPr lang="en-IN" sz="1200" b="1" dirty="0">
                <a:solidFill>
                  <a:schemeClr val="bg1"/>
                </a:solidFill>
              </a:rPr>
              <a:t>Standard R² (0.8924)</a:t>
            </a:r>
            <a:r>
              <a:rPr lang="en-IN" sz="1200" dirty="0">
                <a:solidFill>
                  <a:schemeClr val="bg1"/>
                </a:solidFill>
              </a:rPr>
              <a:t>, and the best </a:t>
            </a:r>
            <a:r>
              <a:rPr lang="en-IN" sz="1200" b="1" dirty="0">
                <a:solidFill>
                  <a:schemeClr val="bg1"/>
                </a:solidFill>
              </a:rPr>
              <a:t>MASE (0.577)</a:t>
            </a:r>
            <a:r>
              <a:rPr lang="en-IN" sz="1200" dirty="0">
                <a:solidFill>
                  <a:schemeClr val="bg1"/>
                </a:solidFill>
              </a:rPr>
              <a:t> among all four models.</a:t>
            </a:r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5D4037">
              <a:alpha val="8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194950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78308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Pattern Specialization Improves Accuracy</a:t>
            </a:r>
          </a:p>
        </p:txBody>
      </p:sp>
      <p:sp>
        <p:nvSpPr>
          <p:cNvPr id="14" name="Text 10"/>
          <p:cNvSpPr/>
          <p:nvPr/>
        </p:nvSpPr>
        <p:spPr>
          <a:xfrm>
            <a:off x="6400800" y="246888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Learning separate models for different soil-moisture regimes improved prediction quality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Clustering enabled specialized Transformers to model different behaviours, resulting in more accurate forecasts than a single global model.</a:t>
            </a:r>
          </a:p>
        </p:txBody>
      </p:sp>
      <p:sp>
        <p:nvSpPr>
          <p:cNvPr id="15" name="Shape 11"/>
          <p:cNvSpPr/>
          <p:nvPr/>
        </p:nvSpPr>
        <p:spPr>
          <a:xfrm>
            <a:off x="64008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5D4037">
              <a:alpha val="8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409834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93192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Stability vs Accuracy</a:t>
            </a:r>
          </a:p>
        </p:txBody>
      </p:sp>
      <p:sp>
        <p:nvSpPr>
          <p:cNvPr id="19" name="Text 14"/>
          <p:cNvSpPr/>
          <p:nvPr/>
        </p:nvSpPr>
        <p:spPr>
          <a:xfrm>
            <a:off x="868680" y="46177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Vanilla Transformer remained the most temporally stable model</a:t>
            </a:r>
          </a:p>
          <a:p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Although Cluster-Based achieved the best overall accuracy, Vanilla produced the highest </a:t>
            </a:r>
            <a:r>
              <a:rPr lang="en-IN" sz="1200" b="1" dirty="0">
                <a:solidFill>
                  <a:schemeClr val="bg1"/>
                </a:solidFill>
              </a:rPr>
              <a:t>Dynamic R² (0.8907)</a:t>
            </a:r>
            <a:r>
              <a:rPr lang="en-IN" sz="1200" dirty="0">
                <a:solidFill>
                  <a:schemeClr val="bg1"/>
                </a:solidFill>
              </a:rPr>
              <a:t>, indicating more consistent performance across rolling time windows.</a:t>
            </a:r>
          </a:p>
        </p:txBody>
      </p:sp>
      <p:sp>
        <p:nvSpPr>
          <p:cNvPr id="20" name="Shape 15"/>
          <p:cNvSpPr/>
          <p:nvPr/>
        </p:nvSpPr>
        <p:spPr>
          <a:xfrm>
            <a:off x="6172200" y="3749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5D4037">
              <a:alpha val="8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0" y="3977640"/>
            <a:ext cx="502920" cy="502920"/>
          </a:xfrm>
          <a:prstGeom prst="ellipse">
            <a:avLst/>
          </a:prstGeom>
          <a:solidFill>
            <a:srgbClr val="0277BD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098341"/>
            <a:ext cx="261518" cy="26151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931920"/>
            <a:ext cx="4251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600" b="1" dirty="0">
                <a:solidFill>
                  <a:schemeClr val="bg1"/>
                </a:solidFill>
              </a:rPr>
              <a:t>Naive Baseline Comparison</a:t>
            </a:r>
          </a:p>
        </p:txBody>
      </p:sp>
      <p:sp>
        <p:nvSpPr>
          <p:cNvPr id="24" name="Text 18"/>
          <p:cNvSpPr/>
          <p:nvPr/>
        </p:nvSpPr>
        <p:spPr>
          <a:xfrm>
            <a:off x="6400800" y="461772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b="1" dirty="0">
                <a:solidFill>
                  <a:schemeClr val="bg1"/>
                </a:solidFill>
              </a:rPr>
              <a:t>Only the Cluster-Based Transformer outperformed the naive forecasting baseline</a:t>
            </a:r>
            <a:endParaRPr lang="en-IN" sz="1200" dirty="0">
              <a:solidFill>
                <a:schemeClr val="bg1"/>
              </a:solidFill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Its </a:t>
            </a:r>
            <a:r>
              <a:rPr lang="en-IN" sz="1200" b="1" dirty="0">
                <a:solidFill>
                  <a:schemeClr val="bg1"/>
                </a:solidFill>
              </a:rPr>
              <a:t>MASE = 0.577 (&lt;1)</a:t>
            </a:r>
            <a:r>
              <a:rPr lang="en-IN" sz="1200" dirty="0">
                <a:solidFill>
                  <a:schemeClr val="bg1"/>
                </a:solidFill>
              </a:rPr>
              <a:t> confirms it provides meaningful predictive value, whereas Vanilla, </a:t>
            </a:r>
            <a:r>
              <a:rPr lang="en-IN" sz="1200" dirty="0" err="1">
                <a:solidFill>
                  <a:schemeClr val="bg1"/>
                </a:solidFill>
              </a:rPr>
              <a:t>PatchTST</a:t>
            </a:r>
            <a:r>
              <a:rPr lang="en-IN" sz="1200" dirty="0">
                <a:solidFill>
                  <a:schemeClr val="bg1"/>
                </a:solidFill>
              </a:rPr>
              <a:t>, and </a:t>
            </a:r>
            <a:r>
              <a:rPr lang="en-IN" sz="1200" dirty="0" err="1">
                <a:solidFill>
                  <a:schemeClr val="bg1"/>
                </a:solidFill>
              </a:rPr>
              <a:t>iTransformer</a:t>
            </a:r>
            <a:r>
              <a:rPr lang="en-IN" sz="1200" dirty="0">
                <a:solidFill>
                  <a:schemeClr val="bg1"/>
                </a:solidFill>
              </a:rPr>
              <a:t> all had </a:t>
            </a:r>
            <a:r>
              <a:rPr lang="en-IN" sz="1200" b="1" dirty="0">
                <a:solidFill>
                  <a:schemeClr val="bg1"/>
                </a:solidFill>
              </a:rPr>
              <a:t>MASE &gt;1</a:t>
            </a:r>
            <a:r>
              <a:rPr lang="en-IN" sz="1200" dirty="0">
                <a:solidFill>
                  <a:schemeClr val="bg1"/>
                </a:solidFill>
              </a:rPr>
              <a:t>, indicating performance comparable to or worse than a naive forecast.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23C40-020F-F83D-B0AB-CA8DD0ACC81C}"/>
              </a:ext>
            </a:extLst>
          </p:cNvPr>
          <p:cNvSpPr txBox="1"/>
          <p:nvPr/>
        </p:nvSpPr>
        <p:spPr>
          <a:xfrm>
            <a:off x="640080" y="5831840"/>
            <a:ext cx="10652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</a:rPr>
              <a:t>Final Conclusion:</a:t>
            </a:r>
            <a:r>
              <a:rPr lang="en-IN" sz="1400" dirty="0">
                <a:solidFill>
                  <a:schemeClr val="bg1"/>
                </a:solidFill>
              </a:rPr>
              <a:t> </a:t>
            </a:r>
            <a:r>
              <a:rPr lang="en-IN" sz="1400" i="1" dirty="0">
                <a:solidFill>
                  <a:schemeClr val="bg1"/>
                </a:solidFill>
              </a:rPr>
              <a:t>The Cluster-Based Transformer is recommended for soil moisture forecasting because it achieved the highest overall predictive accuracy while being the only model to consistently outperform the naive forecasting baseline.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240020" y="2042160"/>
            <a:ext cx="1051560" cy="10515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394" y="229453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5120" y="3403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1281</Words>
  <Application>Microsoft Office PowerPoint</Application>
  <PresentationFormat>Widescreen</PresentationFormat>
  <Paragraphs>301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Moisture Forecasting Using Transformer Models</dc:title>
  <dc:subject>PptxGenJS Presentation</dc:subject>
  <dc:creator>Project Team</dc:creator>
  <cp:lastModifiedBy>kesana sai krishna</cp:lastModifiedBy>
  <cp:revision>5</cp:revision>
  <dcterms:created xsi:type="dcterms:W3CDTF">2026-06-20T06:03:30Z</dcterms:created>
  <dcterms:modified xsi:type="dcterms:W3CDTF">2026-06-28T14:03:12Z</dcterms:modified>
</cp:coreProperties>
</file>